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7" r:id="rId2"/>
    <p:sldId id="258" r:id="rId3"/>
  </p:sldIdLst>
  <p:sldSz cx="7556500" cy="10693400"/>
  <p:notesSz cx="7556500" cy="106934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Raleway" panose="020B0604020202020204" charset="-52"/>
      <p:regular r:id="rId8"/>
      <p:bold r:id="rId9"/>
      <p:italic r:id="rId10"/>
      <p:boldItalic r:id="rId1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A8FE"/>
    <a:srgbClr val="F5F5F5"/>
    <a:srgbClr val="22252C"/>
    <a:srgbClr val="EDE7FF"/>
    <a:srgbClr val="7448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214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1466E6B-7360-4877-A20E-3AFB18B01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563" y="0"/>
            <a:ext cx="1741487" cy="2122077"/>
          </a:xfrm>
          <a:prstGeom prst="rect">
            <a:avLst/>
          </a:prstGeom>
        </p:spPr>
      </p:pic>
      <p:sp>
        <p:nvSpPr>
          <p:cNvPr id="14" name="object 4">
            <a:extLst>
              <a:ext uri="{FF2B5EF4-FFF2-40B4-BE49-F238E27FC236}">
                <a16:creationId xmlns:a16="http://schemas.microsoft.com/office/drawing/2014/main" id="{21EC58E4-726B-4316-A185-B8D2D34D7C82}"/>
              </a:ext>
            </a:extLst>
          </p:cNvPr>
          <p:cNvSpPr txBox="1"/>
          <p:nvPr/>
        </p:nvSpPr>
        <p:spPr>
          <a:xfrm>
            <a:off x="444500" y="287228"/>
            <a:ext cx="4552950" cy="155427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ru-RU" sz="5000" b="1" spc="15" dirty="0">
                <a:latin typeface="Raleway" pitchFamily="2" charset="-52"/>
                <a:cs typeface="Museo Sans Cyrl 900"/>
              </a:rPr>
              <a:t>Тестовое </a:t>
            </a:r>
            <a:br>
              <a:rPr lang="ru-RU" sz="5000" b="1" spc="15" dirty="0">
                <a:latin typeface="Raleway" pitchFamily="2" charset="-52"/>
                <a:cs typeface="Museo Sans Cyrl 900"/>
              </a:rPr>
            </a:br>
            <a:r>
              <a:rPr lang="ru-RU" sz="5000" i="1" spc="15" dirty="0">
                <a:latin typeface="Raleway" pitchFamily="2" charset="-52"/>
                <a:cs typeface="Museo Sans Cyrl 900"/>
              </a:rPr>
              <a:t>задание</a:t>
            </a:r>
            <a:endParaRPr sz="5000" i="1" dirty="0">
              <a:latin typeface="Raleway" pitchFamily="2" charset="-52"/>
              <a:cs typeface="Museo Sans Cyrl 900"/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1544F490-AA01-44EE-9ECE-F9852C5ADA1F}"/>
              </a:ext>
            </a:extLst>
          </p:cNvPr>
          <p:cNvSpPr txBox="1"/>
          <p:nvPr/>
        </p:nvSpPr>
        <p:spPr>
          <a:xfrm>
            <a:off x="474663" y="1991668"/>
            <a:ext cx="3384550" cy="23083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ru-RU" sz="1400" spc="15" dirty="0">
                <a:latin typeface="Raleway" pitchFamily="2" charset="-52"/>
                <a:cs typeface="Museo Sans Cyrl 900"/>
              </a:rPr>
              <a:t>На должность </a:t>
            </a:r>
            <a:r>
              <a:rPr lang="en-US" sz="1400" spc="15" dirty="0">
                <a:latin typeface="Raleway" pitchFamily="2" charset="-52"/>
                <a:cs typeface="Museo Sans Cyrl 900"/>
              </a:rPr>
              <a:t>Python </a:t>
            </a:r>
            <a:r>
              <a:rPr lang="ru-RU" sz="1400" spc="15" dirty="0">
                <a:latin typeface="Raleway" pitchFamily="2" charset="-52"/>
                <a:cs typeface="Museo Sans Cyrl 900"/>
              </a:rPr>
              <a:t>программиста</a:t>
            </a:r>
            <a:endParaRPr sz="1050" dirty="0">
              <a:latin typeface="Raleway" pitchFamily="2" charset="-52"/>
              <a:cs typeface="Museo Sans Cyrl 700"/>
            </a:endParaRP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47ACE646-8012-4BB4-B3B7-597E5C491F58}"/>
              </a:ext>
            </a:extLst>
          </p:cNvPr>
          <p:cNvSpPr txBox="1"/>
          <p:nvPr/>
        </p:nvSpPr>
        <p:spPr>
          <a:xfrm>
            <a:off x="474663" y="4631742"/>
            <a:ext cx="6656387" cy="490595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ru-RU" sz="1050" dirty="0">
                <a:latin typeface="Raleway" pitchFamily="2" charset="-52"/>
                <a:cs typeface="Museo Sans Cyrl 700"/>
              </a:rPr>
              <a:t>Вопрос практический. Решение завернутое в докер будет преимуществом. Также в зачет идут любые толковые комментарии и интерпретации ручек относительно реализации этого сервиса. Необходимо разработать </a:t>
            </a:r>
            <a:r>
              <a:rPr lang="ru-RU" sz="1050" b="1" dirty="0" err="1">
                <a:latin typeface="Raleway" pitchFamily="2" charset="-52"/>
                <a:cs typeface="Museo Sans Cyrl 700"/>
              </a:rPr>
              <a:t>RESTful</a:t>
            </a:r>
            <a:r>
              <a:rPr lang="ru-RU" sz="1050" b="1" dirty="0">
                <a:latin typeface="Raleway" pitchFamily="2" charset="-52"/>
                <a:cs typeface="Museo Sans Cyrl 700"/>
              </a:rPr>
              <a:t> </a:t>
            </a:r>
            <a:r>
              <a:rPr lang="ru-RU" sz="1050" dirty="0">
                <a:latin typeface="Raleway" pitchFamily="2" charset="-52"/>
                <a:cs typeface="Museo Sans Cyrl 700"/>
              </a:rPr>
              <a:t>сервис с использованием </a:t>
            </a:r>
            <a:r>
              <a:rPr lang="ru-RU" sz="1050" b="1" dirty="0">
                <a:latin typeface="Raleway" pitchFamily="2" charset="-52"/>
                <a:cs typeface="Museo Sans Cyrl 700"/>
              </a:rPr>
              <a:t>Fast API</a:t>
            </a:r>
            <a:r>
              <a:rPr lang="ru-RU" sz="1050" dirty="0">
                <a:latin typeface="Raleway" pitchFamily="2" charset="-52"/>
                <a:cs typeface="Museo Sans Cyrl 700"/>
              </a:rPr>
              <a:t> и </a:t>
            </a:r>
            <a:r>
              <a:rPr lang="ru-RU" sz="1050" b="1" dirty="0" err="1">
                <a:latin typeface="Raleway" pitchFamily="2" charset="-52"/>
                <a:cs typeface="Museo Sans Cyrl 700"/>
              </a:rPr>
              <a:t>Redis</a:t>
            </a:r>
            <a:r>
              <a:rPr lang="ru-RU" sz="1050" dirty="0">
                <a:latin typeface="Raleway" pitchFamily="2" charset="-52"/>
                <a:cs typeface="Museo Sans Cyrl 700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ru-RU" sz="1050" b="1" dirty="0" err="1">
                <a:latin typeface="Raleway" pitchFamily="2" charset="-52"/>
                <a:cs typeface="Museo Sans Cyrl 700"/>
              </a:rPr>
              <a:t>Эндпоинты</a:t>
            </a:r>
            <a:r>
              <a:rPr lang="ru-RU" sz="1050" b="1" dirty="0">
                <a:latin typeface="Raleway" pitchFamily="2" charset="-52"/>
                <a:cs typeface="Museo Sans Cyrl 700"/>
              </a:rPr>
              <a:t>  (ручки)</a:t>
            </a: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ru-RU" sz="1050" dirty="0" err="1">
                <a:latin typeface="Raleway" pitchFamily="2" charset="-52"/>
                <a:cs typeface="Museo Sans Cyrl 700"/>
              </a:rPr>
              <a:t>Write_data</a:t>
            </a:r>
            <a:r>
              <a:rPr lang="ru-RU" sz="1050" dirty="0">
                <a:latin typeface="Raleway" pitchFamily="2" charset="-52"/>
                <a:cs typeface="Museo Sans Cyrl 700"/>
              </a:rPr>
              <a:t> (запись и обновление данных)</a:t>
            </a:r>
          </a:p>
          <a:p>
            <a:pPr marL="12700" indent="344488">
              <a:lnSpc>
                <a:spcPct val="100000"/>
              </a:lnSpc>
              <a:spcBef>
                <a:spcPts val="600"/>
              </a:spcBef>
            </a:pPr>
            <a:r>
              <a:rPr lang="ru-RU" sz="1050" dirty="0">
                <a:latin typeface="Raleway" pitchFamily="2" charset="-52"/>
                <a:cs typeface="Museo Sans Cyrl 700"/>
              </a:rPr>
              <a:t>a. Phone</a:t>
            </a:r>
          </a:p>
          <a:p>
            <a:pPr marL="12700" indent="344488">
              <a:lnSpc>
                <a:spcPct val="100000"/>
              </a:lnSpc>
              <a:spcBef>
                <a:spcPts val="600"/>
              </a:spcBef>
            </a:pPr>
            <a:r>
              <a:rPr lang="ru-RU" sz="1050" dirty="0">
                <a:latin typeface="Raleway" pitchFamily="2" charset="-52"/>
                <a:cs typeface="Museo Sans Cyrl 700"/>
              </a:rPr>
              <a:t>b. Address</a:t>
            </a:r>
            <a:br>
              <a:rPr lang="ru-RU" sz="1050" dirty="0">
                <a:latin typeface="Raleway" pitchFamily="2" charset="-52"/>
                <a:cs typeface="Museo Sans Cyrl 700"/>
              </a:rPr>
            </a:br>
            <a:endParaRPr lang="ru-RU" sz="1050" dirty="0">
              <a:latin typeface="Raleway" pitchFamily="2" charset="-52"/>
              <a:cs typeface="Museo Sans Cyrl 700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ru-RU" sz="1050" dirty="0">
                <a:latin typeface="Raleway" pitchFamily="2" charset="-52"/>
                <a:cs typeface="Museo Sans Cyrl 700"/>
              </a:rPr>
              <a:t>2. </a:t>
            </a:r>
            <a:r>
              <a:rPr lang="ru-RU" sz="1050" dirty="0" err="1">
                <a:latin typeface="Raleway" pitchFamily="2" charset="-52"/>
                <a:cs typeface="Museo Sans Cyrl 700"/>
              </a:rPr>
              <a:t>Check_data</a:t>
            </a:r>
            <a:r>
              <a:rPr lang="ru-RU" sz="1050" dirty="0">
                <a:latin typeface="Raleway" pitchFamily="2" charset="-52"/>
                <a:cs typeface="Museo Sans Cyrl 700"/>
              </a:rPr>
              <a:t> (получение данных)</a:t>
            </a:r>
          </a:p>
          <a:p>
            <a:pPr marL="12700" indent="344488">
              <a:lnSpc>
                <a:spcPct val="100000"/>
              </a:lnSpc>
              <a:spcBef>
                <a:spcPts val="600"/>
              </a:spcBef>
            </a:pPr>
            <a:r>
              <a:rPr lang="ru-RU" sz="1050" dirty="0">
                <a:latin typeface="Raleway" pitchFamily="2" charset="-52"/>
                <a:cs typeface="Museo Sans Cyrl 700"/>
              </a:rPr>
              <a:t>a. Phone</a:t>
            </a:r>
            <a:br>
              <a:rPr lang="ru-RU" sz="1050" dirty="0">
                <a:latin typeface="Raleway" pitchFamily="2" charset="-52"/>
                <a:cs typeface="Museo Sans Cyrl 700"/>
              </a:rPr>
            </a:br>
            <a:endParaRPr lang="ru-RU" sz="1050" dirty="0">
              <a:latin typeface="Raleway" pitchFamily="2" charset="-52"/>
              <a:cs typeface="Museo Sans Cyrl 700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ru-RU" sz="1050" b="1" dirty="0">
                <a:latin typeface="Raleway" pitchFamily="2" charset="-52"/>
                <a:cs typeface="Museo Sans Cyrl 700"/>
              </a:rPr>
              <a:t>Сценарии использования сервиса: </a:t>
            </a: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ru-RU" sz="1050" dirty="0">
                <a:latin typeface="Raleway" pitchFamily="2" charset="-52"/>
                <a:cs typeface="Museo Sans Cyrl 700"/>
              </a:rPr>
              <a:t>Клиент отправляет запрос на ручку вида https://111.111.111.111/check_data?phone=’89090000000’ </a:t>
            </a:r>
            <a:r>
              <a:rPr lang="ru-RU" sz="1050" dirty="0" err="1">
                <a:latin typeface="Raleway" pitchFamily="2" charset="-52"/>
                <a:cs typeface="Museo Sans Cyrl 700"/>
              </a:rPr>
              <a:t>Эндпоинт</a:t>
            </a:r>
            <a:r>
              <a:rPr lang="ru-RU" sz="1050" dirty="0">
                <a:latin typeface="Raleway" pitchFamily="2" charset="-52"/>
                <a:cs typeface="Museo Sans Cyrl 700"/>
              </a:rPr>
              <a:t> в свою очередь получает номер телефона и идёт в </a:t>
            </a:r>
            <a:r>
              <a:rPr lang="ru-RU" sz="1050" dirty="0" err="1">
                <a:latin typeface="Raleway" pitchFamily="2" charset="-52"/>
                <a:cs typeface="Museo Sans Cyrl 700"/>
              </a:rPr>
              <a:t>redis</a:t>
            </a:r>
            <a:r>
              <a:rPr lang="ru-RU" sz="1050" dirty="0">
                <a:latin typeface="Raleway" pitchFamily="2" charset="-52"/>
                <a:cs typeface="Museo Sans Cyrl 700"/>
              </a:rPr>
              <a:t> по ключу (номер телефона) получает сохраненный адрес и отдаёт его в ответе клиенту.</a:t>
            </a:r>
            <a:br>
              <a:rPr lang="ru-RU" sz="1050" dirty="0">
                <a:latin typeface="Raleway" pitchFamily="2" charset="-52"/>
                <a:cs typeface="Museo Sans Cyrl 700"/>
              </a:rPr>
            </a:br>
            <a:endParaRPr lang="ru-RU" sz="1050" dirty="0">
              <a:latin typeface="Raleway" pitchFamily="2" charset="-52"/>
              <a:cs typeface="Museo Sans Cyrl 700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ru-RU" sz="1050" dirty="0">
                <a:latin typeface="Raleway" pitchFamily="2" charset="-52"/>
                <a:cs typeface="Museo Sans Cyrl 700"/>
              </a:rPr>
              <a:t>Клиент отправляет запрос на ручку для записи данных в </a:t>
            </a:r>
            <a:r>
              <a:rPr lang="ru-RU" sz="1050" dirty="0" err="1">
                <a:latin typeface="Raleway" pitchFamily="2" charset="-52"/>
                <a:cs typeface="Museo Sans Cyrl 700"/>
              </a:rPr>
              <a:t>redis</a:t>
            </a:r>
            <a:r>
              <a:rPr lang="ru-RU" sz="1050" dirty="0">
                <a:latin typeface="Raleway" pitchFamily="2" charset="-52"/>
                <a:cs typeface="Museo Sans Cyrl 700"/>
              </a:rPr>
              <a:t> вида </a:t>
            </a:r>
            <a:br>
              <a:rPr lang="ru-RU" sz="1050" dirty="0">
                <a:latin typeface="Raleway" pitchFamily="2" charset="-52"/>
                <a:cs typeface="Museo Sans Cyrl 700"/>
              </a:rPr>
            </a:br>
            <a:r>
              <a:rPr lang="ru-RU" sz="1050" dirty="0">
                <a:latin typeface="Raleway" pitchFamily="2" charset="-52"/>
                <a:cs typeface="Museo Sans Cyrl 700"/>
              </a:rPr>
              <a:t>https://111.111.111.111/write_data с телом </a:t>
            </a:r>
          </a:p>
          <a:p>
            <a:pPr marL="12700" indent="344488">
              <a:lnSpc>
                <a:spcPct val="100000"/>
              </a:lnSpc>
              <a:spcBef>
                <a:spcPts val="600"/>
              </a:spcBef>
            </a:pPr>
            <a:r>
              <a:rPr lang="ru-RU" sz="1050" dirty="0">
                <a:latin typeface="Raleway" pitchFamily="2" charset="-52"/>
                <a:cs typeface="Museo Sans Cyrl 700"/>
              </a:rPr>
              <a:t>phone:’89090000000’</a:t>
            </a:r>
          </a:p>
          <a:p>
            <a:pPr marL="12700" indent="344488">
              <a:lnSpc>
                <a:spcPct val="100000"/>
              </a:lnSpc>
              <a:spcBef>
                <a:spcPts val="600"/>
              </a:spcBef>
            </a:pPr>
            <a:r>
              <a:rPr lang="ru-RU" sz="1050" dirty="0" err="1">
                <a:latin typeface="Raleway" pitchFamily="2" charset="-52"/>
                <a:cs typeface="Museo Sans Cyrl 700"/>
              </a:rPr>
              <a:t>address</a:t>
            </a:r>
            <a:r>
              <a:rPr lang="ru-RU" sz="1050" dirty="0">
                <a:latin typeface="Raleway" pitchFamily="2" charset="-52"/>
                <a:cs typeface="Museo Sans Cyrl 700"/>
              </a:rPr>
              <a:t>:’текстовый адрес’</a:t>
            </a:r>
            <a:br>
              <a:rPr lang="ru-RU" sz="1050" dirty="0">
                <a:latin typeface="Raleway" pitchFamily="2" charset="-52"/>
                <a:cs typeface="Museo Sans Cyrl 700"/>
              </a:rPr>
            </a:br>
            <a:endParaRPr lang="ru-RU" sz="1050" dirty="0">
              <a:latin typeface="Raleway" pitchFamily="2" charset="-52"/>
              <a:cs typeface="Museo Sans Cyrl 700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ru-RU" sz="1050" dirty="0">
                <a:latin typeface="Raleway" pitchFamily="2" charset="-52"/>
                <a:cs typeface="Museo Sans Cyrl 700"/>
              </a:rPr>
              <a:t>3. Клиент отправляет запрос на ручку изменения адреса вида https://111.111.111.111/write_data с телом </a:t>
            </a:r>
          </a:p>
          <a:p>
            <a:pPr marL="12700" indent="344488">
              <a:lnSpc>
                <a:spcPct val="80000"/>
              </a:lnSpc>
              <a:spcBef>
                <a:spcPts val="600"/>
              </a:spcBef>
            </a:pPr>
            <a:r>
              <a:rPr lang="ru-RU" sz="1050" dirty="0">
                <a:latin typeface="Raleway" pitchFamily="2" charset="-52"/>
                <a:cs typeface="Museo Sans Cyrl 700"/>
              </a:rPr>
              <a:t>phone:’89090000000’</a:t>
            </a:r>
          </a:p>
          <a:p>
            <a:pPr marL="12700" indent="344488">
              <a:lnSpc>
                <a:spcPct val="80000"/>
              </a:lnSpc>
              <a:spcBef>
                <a:spcPts val="600"/>
              </a:spcBef>
            </a:pPr>
            <a:r>
              <a:rPr lang="ru-RU" sz="1050" dirty="0" err="1">
                <a:latin typeface="Raleway" pitchFamily="2" charset="-52"/>
                <a:cs typeface="Museo Sans Cyrl 700"/>
              </a:rPr>
              <a:t>address</a:t>
            </a:r>
            <a:r>
              <a:rPr lang="ru-RU" sz="1050" dirty="0">
                <a:latin typeface="Raleway" pitchFamily="2" charset="-52"/>
                <a:cs typeface="Museo Sans Cyrl 700"/>
              </a:rPr>
              <a:t>:’текстовый адрес’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1F40643-9594-42C4-9B3E-E7A43A67D3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523" y="9994900"/>
            <a:ext cx="990600" cy="230752"/>
          </a:xfrm>
          <a:prstGeom prst="rect">
            <a:avLst/>
          </a:prstGeom>
        </p:spPr>
      </p:pic>
      <p:sp>
        <p:nvSpPr>
          <p:cNvPr id="17" name="object 4">
            <a:extLst>
              <a:ext uri="{FF2B5EF4-FFF2-40B4-BE49-F238E27FC236}">
                <a16:creationId xmlns:a16="http://schemas.microsoft.com/office/drawing/2014/main" id="{A35C2EB6-4F4B-4DC3-BA5C-1A36D3C017D1}"/>
              </a:ext>
            </a:extLst>
          </p:cNvPr>
          <p:cNvSpPr txBox="1"/>
          <p:nvPr/>
        </p:nvSpPr>
        <p:spPr>
          <a:xfrm>
            <a:off x="474661" y="4205811"/>
            <a:ext cx="1335089" cy="26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ru-RU" sz="1600" b="1" spc="15" dirty="0">
                <a:solidFill>
                  <a:srgbClr val="7448FC"/>
                </a:solidFill>
                <a:latin typeface="Raleway" pitchFamily="2" charset="-52"/>
                <a:cs typeface="Museo Sans Cyrl 900"/>
              </a:rPr>
              <a:t>Задание 1</a:t>
            </a:r>
            <a:endParaRPr sz="1100" b="1" dirty="0">
              <a:solidFill>
                <a:srgbClr val="7448FC"/>
              </a:solidFill>
              <a:latin typeface="Raleway" pitchFamily="2" charset="-52"/>
              <a:cs typeface="Museo Sans Cyrl 700"/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8314D2B7-2FDE-4C73-82F3-ED41FB26DD97}"/>
              </a:ext>
            </a:extLst>
          </p:cNvPr>
          <p:cNvSpPr/>
          <p:nvPr/>
        </p:nvSpPr>
        <p:spPr>
          <a:xfrm>
            <a:off x="474661" y="2560679"/>
            <a:ext cx="6457950" cy="1337335"/>
          </a:xfrm>
          <a:prstGeom prst="roundRect">
            <a:avLst/>
          </a:prstGeom>
          <a:solidFill>
            <a:schemeClr val="bg1"/>
          </a:solidFill>
          <a:ln>
            <a:solidFill>
              <a:srgbClr val="7448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80000" rtlCol="0" anchor="ctr"/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lang="ru-RU" sz="1100" dirty="0">
                <a:solidFill>
                  <a:srgbClr val="22252C"/>
                </a:solidFill>
                <a:latin typeface="Raleway" pitchFamily="2" charset="-52"/>
                <a:cs typeface="Museo Sans Cyrl 700"/>
              </a:rPr>
              <a:t>Необходимо выполнить оба задания, результат необходимо представить в </a:t>
            </a:r>
            <a:r>
              <a:rPr lang="ru-RU" sz="1100" b="1" dirty="0" err="1">
                <a:solidFill>
                  <a:srgbClr val="22252C"/>
                </a:solidFill>
                <a:latin typeface="Raleway" pitchFamily="2" charset="-52"/>
                <a:cs typeface="Museo Sans Cyrl 700"/>
              </a:rPr>
              <a:t>github</a:t>
            </a:r>
            <a:r>
              <a:rPr lang="ru-RU" sz="1100" dirty="0">
                <a:solidFill>
                  <a:srgbClr val="22252C"/>
                </a:solidFill>
                <a:latin typeface="Raleway" pitchFamily="2" charset="-52"/>
                <a:cs typeface="Museo Sans Cyrl 700"/>
              </a:rPr>
              <a:t> </a:t>
            </a:r>
            <a:br>
              <a:rPr lang="ru-RU" sz="1100" dirty="0">
                <a:solidFill>
                  <a:srgbClr val="22252C"/>
                </a:solidFill>
                <a:latin typeface="Raleway" pitchFamily="2" charset="-52"/>
                <a:cs typeface="Museo Sans Cyrl 700"/>
              </a:rPr>
            </a:br>
            <a:r>
              <a:rPr lang="ru-RU" sz="1100" dirty="0">
                <a:solidFill>
                  <a:srgbClr val="22252C"/>
                </a:solidFill>
                <a:latin typeface="Raleway" pitchFamily="2" charset="-52"/>
                <a:cs typeface="Museo Sans Cyrl 700"/>
              </a:rPr>
              <a:t>в публичном или </a:t>
            </a:r>
            <a:r>
              <a:rPr lang="ru-RU" sz="1100" b="1" dirty="0">
                <a:solidFill>
                  <a:srgbClr val="22252C"/>
                </a:solidFill>
                <a:latin typeface="Raleway" pitchFamily="2" charset="-52"/>
                <a:cs typeface="Museo Sans Cyrl 700"/>
              </a:rPr>
              <a:t>с доступом пользователя </a:t>
            </a:r>
            <a:r>
              <a:rPr lang="ru-RU" sz="1100" b="1" dirty="0" err="1">
                <a:solidFill>
                  <a:srgbClr val="22252C"/>
                </a:solidFill>
                <a:latin typeface="Raleway" pitchFamily="2" charset="-52"/>
                <a:cs typeface="Museo Sans Cyrl 700"/>
              </a:rPr>
              <a:t>rinkatoto</a:t>
            </a:r>
            <a:r>
              <a:rPr lang="ru-RU" sz="1100" dirty="0">
                <a:solidFill>
                  <a:srgbClr val="22252C"/>
                </a:solidFill>
                <a:latin typeface="Raleway" pitchFamily="2" charset="-52"/>
                <a:cs typeface="Museo Sans Cyrl 700"/>
              </a:rPr>
              <a:t>. </a:t>
            </a: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lang="ru-RU" sz="1100" dirty="0">
                <a:solidFill>
                  <a:srgbClr val="22252C"/>
                </a:solidFill>
                <a:latin typeface="Raleway" pitchFamily="2" charset="-52"/>
                <a:cs typeface="Museo Sans Cyrl 700"/>
              </a:rPr>
              <a:t>Решение </a:t>
            </a:r>
            <a:r>
              <a:rPr lang="ru-RU" sz="1100" dirty="0" err="1">
                <a:solidFill>
                  <a:srgbClr val="22252C"/>
                </a:solidFill>
                <a:latin typeface="Raleway" pitchFamily="2" charset="-52"/>
                <a:cs typeface="Museo Sans Cyrl 700"/>
              </a:rPr>
              <a:t>вторрепозиторииого</a:t>
            </a:r>
            <a:r>
              <a:rPr lang="ru-RU" sz="1100" dirty="0">
                <a:solidFill>
                  <a:srgbClr val="22252C"/>
                </a:solidFill>
                <a:latin typeface="Raleway" pitchFamily="2" charset="-52"/>
                <a:cs typeface="Museo Sans Cyrl 700"/>
              </a:rPr>
              <a:t> задания необходимо приложить в </a:t>
            </a:r>
            <a:r>
              <a:rPr lang="ru-RU" sz="1100" b="1" dirty="0" err="1">
                <a:solidFill>
                  <a:srgbClr val="22252C"/>
                </a:solidFill>
                <a:latin typeface="Raleway" pitchFamily="2" charset="-52"/>
                <a:cs typeface="Museo Sans Cyrl 700"/>
              </a:rPr>
              <a:t>readme</a:t>
            </a:r>
            <a:r>
              <a:rPr lang="ru-RU" sz="1100" dirty="0">
                <a:solidFill>
                  <a:srgbClr val="22252C"/>
                </a:solidFill>
                <a:latin typeface="Raleway" pitchFamily="2" charset="-52"/>
                <a:cs typeface="Museo Sans Cyrl 700"/>
              </a:rPr>
              <a:t> в репозитории. Решение завернутое в докер и приложенный скрипт значительно повышает шансы </a:t>
            </a:r>
            <a:br>
              <a:rPr lang="ru-RU" sz="1100" dirty="0">
                <a:solidFill>
                  <a:srgbClr val="22252C"/>
                </a:solidFill>
                <a:latin typeface="Raleway" pitchFamily="2" charset="-52"/>
                <a:cs typeface="Museo Sans Cyrl 700"/>
              </a:rPr>
            </a:br>
            <a:r>
              <a:rPr lang="ru-RU" sz="1100" dirty="0">
                <a:solidFill>
                  <a:srgbClr val="22252C"/>
                </a:solidFill>
                <a:latin typeface="Raleway" pitchFamily="2" charset="-52"/>
                <a:cs typeface="Museo Sans Cyrl 700"/>
              </a:rPr>
              <a:t>на </a:t>
            </a:r>
            <a:r>
              <a:rPr lang="ru-RU" sz="1100" b="1" dirty="0" err="1">
                <a:solidFill>
                  <a:srgbClr val="22252C"/>
                </a:solidFill>
                <a:latin typeface="Raleway" pitchFamily="2" charset="-52"/>
                <a:cs typeface="Museo Sans Cyrl 700"/>
              </a:rPr>
              <a:t>one</a:t>
            </a:r>
            <a:r>
              <a:rPr lang="ru-RU" sz="1100" b="1" dirty="0">
                <a:solidFill>
                  <a:srgbClr val="22252C"/>
                </a:solidFill>
                <a:latin typeface="Raleway" pitchFamily="2" charset="-52"/>
                <a:cs typeface="Museo Sans Cyrl 700"/>
              </a:rPr>
              <a:t> </a:t>
            </a:r>
            <a:r>
              <a:rPr lang="ru-RU" sz="1100" b="1" dirty="0" err="1">
                <a:solidFill>
                  <a:srgbClr val="22252C"/>
                </a:solidFill>
                <a:latin typeface="Raleway" pitchFamily="2" charset="-52"/>
                <a:cs typeface="Museo Sans Cyrl 700"/>
              </a:rPr>
              <a:t>day</a:t>
            </a:r>
            <a:r>
              <a:rPr lang="ru-RU" sz="1100" b="1" dirty="0">
                <a:solidFill>
                  <a:srgbClr val="22252C"/>
                </a:solidFill>
                <a:latin typeface="Raleway" pitchFamily="2" charset="-52"/>
                <a:cs typeface="Museo Sans Cyrl 700"/>
              </a:rPr>
              <a:t> </a:t>
            </a:r>
            <a:r>
              <a:rPr lang="ru-RU" sz="1100" b="1" dirty="0" err="1">
                <a:solidFill>
                  <a:srgbClr val="22252C"/>
                </a:solidFill>
                <a:latin typeface="Raleway" pitchFamily="2" charset="-52"/>
                <a:cs typeface="Museo Sans Cyrl 700"/>
              </a:rPr>
              <a:t>offer</a:t>
            </a:r>
            <a:r>
              <a:rPr lang="ru-RU" sz="1100" dirty="0">
                <a:solidFill>
                  <a:srgbClr val="22252C"/>
                </a:solidFill>
                <a:latin typeface="Raleway" pitchFamily="2" charset="-52"/>
                <a:cs typeface="Museo Sans Cyrl 70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1F40643-9594-42C4-9B3E-E7A43A67D3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523" y="9994900"/>
            <a:ext cx="990600" cy="230752"/>
          </a:xfrm>
          <a:prstGeom prst="rect">
            <a:avLst/>
          </a:prstGeom>
        </p:spPr>
      </p:pic>
      <p:sp>
        <p:nvSpPr>
          <p:cNvPr id="17" name="object 4">
            <a:extLst>
              <a:ext uri="{FF2B5EF4-FFF2-40B4-BE49-F238E27FC236}">
                <a16:creationId xmlns:a16="http://schemas.microsoft.com/office/drawing/2014/main" id="{1E8950C4-863C-4058-99BA-DDF4A596DC06}"/>
              </a:ext>
            </a:extLst>
          </p:cNvPr>
          <p:cNvSpPr txBox="1"/>
          <p:nvPr/>
        </p:nvSpPr>
        <p:spPr>
          <a:xfrm>
            <a:off x="504617" y="2502565"/>
            <a:ext cx="6656387" cy="17697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ru-RU" sz="1050" dirty="0">
                <a:latin typeface="Raleway" pitchFamily="2" charset="-52"/>
                <a:cs typeface="Museo Sans Cyrl 700"/>
              </a:rPr>
              <a:t>Дано две таблицы в </a:t>
            </a:r>
            <a:r>
              <a:rPr lang="ru-RU" sz="1050" b="1" dirty="0">
                <a:latin typeface="Raleway" pitchFamily="2" charset="-52"/>
                <a:cs typeface="Museo Sans Cyrl 700"/>
              </a:rPr>
              <a:t>СУБД </a:t>
            </a:r>
            <a:r>
              <a:rPr lang="ru-RU" sz="1050" b="1" dirty="0" err="1">
                <a:latin typeface="Raleway" pitchFamily="2" charset="-52"/>
                <a:cs typeface="Museo Sans Cyrl 700"/>
              </a:rPr>
              <a:t>Postgres</a:t>
            </a:r>
            <a:r>
              <a:rPr lang="ru-RU" sz="1050" dirty="0">
                <a:latin typeface="Raleway" pitchFamily="2" charset="-52"/>
                <a:cs typeface="Museo Sans Cyrl 700"/>
              </a:rPr>
              <a:t>.</a:t>
            </a:r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EEA382FB-4AC3-4ACB-8A4F-A38CF9B0EF59}"/>
              </a:ext>
            </a:extLst>
          </p:cNvPr>
          <p:cNvSpPr txBox="1"/>
          <p:nvPr/>
        </p:nvSpPr>
        <p:spPr>
          <a:xfrm>
            <a:off x="474663" y="1969328"/>
            <a:ext cx="1335089" cy="26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ru-RU" sz="1600" b="1" spc="15" dirty="0">
                <a:solidFill>
                  <a:srgbClr val="7448FC"/>
                </a:solidFill>
                <a:latin typeface="Raleway" pitchFamily="2" charset="-52"/>
                <a:cs typeface="Museo Sans Cyrl 900"/>
              </a:rPr>
              <a:t>Задание 2</a:t>
            </a:r>
            <a:endParaRPr sz="1100" b="1" dirty="0">
              <a:solidFill>
                <a:srgbClr val="7448FC"/>
              </a:solidFill>
              <a:latin typeface="Raleway" pitchFamily="2" charset="-52"/>
              <a:cs typeface="Museo Sans Cyrl 700"/>
            </a:endParaRPr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614F1DEC-DE0B-44D7-9E31-69D2EE6A119F}"/>
              </a:ext>
            </a:extLst>
          </p:cNvPr>
          <p:cNvSpPr txBox="1"/>
          <p:nvPr/>
        </p:nvSpPr>
        <p:spPr>
          <a:xfrm>
            <a:off x="444500" y="287228"/>
            <a:ext cx="5619750" cy="87716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ru-RU" sz="2800" b="1" spc="15" dirty="0">
                <a:latin typeface="Raleway" pitchFamily="2" charset="-52"/>
                <a:cs typeface="Museo Sans Cyrl 900"/>
              </a:rPr>
              <a:t>Тестовое </a:t>
            </a:r>
            <a:br>
              <a:rPr lang="ru-RU" sz="2800" b="1" spc="15" dirty="0">
                <a:latin typeface="Raleway" pitchFamily="2" charset="-52"/>
                <a:cs typeface="Museo Sans Cyrl 900"/>
              </a:rPr>
            </a:br>
            <a:r>
              <a:rPr lang="ru-RU" sz="2800" i="1" spc="15" dirty="0">
                <a:latin typeface="Raleway" pitchFamily="2" charset="-52"/>
                <a:cs typeface="Museo Sans Cyrl 900"/>
              </a:rPr>
              <a:t>задание</a:t>
            </a:r>
            <a:endParaRPr sz="2800" i="1" dirty="0">
              <a:latin typeface="Raleway" pitchFamily="2" charset="-52"/>
              <a:cs typeface="Museo Sans Cyrl 900"/>
            </a:endParaRP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7D428609-DFFF-4564-9A60-36BBE84E3D49}"/>
              </a:ext>
            </a:extLst>
          </p:cNvPr>
          <p:cNvSpPr txBox="1"/>
          <p:nvPr/>
        </p:nvSpPr>
        <p:spPr>
          <a:xfrm>
            <a:off x="5078353" y="467748"/>
            <a:ext cx="2071273" cy="4591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20"/>
              </a:spcBef>
            </a:pPr>
            <a:r>
              <a:rPr lang="ru-RU" sz="1400" spc="15" dirty="0">
                <a:latin typeface="Raleway" pitchFamily="2" charset="-52"/>
                <a:cs typeface="Museo Sans Cyrl 900"/>
              </a:rPr>
              <a:t>На должность </a:t>
            </a:r>
          </a:p>
          <a:p>
            <a:pPr marL="12700" algn="r">
              <a:lnSpc>
                <a:spcPct val="100000"/>
              </a:lnSpc>
              <a:spcBef>
                <a:spcPts val="120"/>
              </a:spcBef>
            </a:pPr>
            <a:r>
              <a:rPr lang="en-US" sz="1400" spc="15" dirty="0">
                <a:latin typeface="Raleway" pitchFamily="2" charset="-52"/>
                <a:cs typeface="Museo Sans Cyrl 900"/>
              </a:rPr>
              <a:t>Python </a:t>
            </a:r>
            <a:r>
              <a:rPr lang="ru-RU" sz="1400" spc="15" dirty="0">
                <a:latin typeface="Raleway" pitchFamily="2" charset="-52"/>
                <a:cs typeface="Museo Sans Cyrl 900"/>
              </a:rPr>
              <a:t>программиста</a:t>
            </a:r>
            <a:endParaRPr sz="1050" dirty="0">
              <a:latin typeface="Raleway" pitchFamily="2" charset="-52"/>
              <a:cs typeface="Museo Sans Cyrl 700"/>
            </a:endParaRPr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84E279EC-50BE-4735-A636-E9ECE0B8E53A}"/>
              </a:ext>
            </a:extLst>
          </p:cNvPr>
          <p:cNvSpPr txBox="1"/>
          <p:nvPr/>
        </p:nvSpPr>
        <p:spPr>
          <a:xfrm>
            <a:off x="450056" y="5832207"/>
            <a:ext cx="6656387" cy="16235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ru-RU" sz="1050" dirty="0">
                <a:latin typeface="Raleway" pitchFamily="2" charset="-52"/>
                <a:cs typeface="Museo Sans Cyrl 700"/>
              </a:rPr>
              <a:t>В одной таблице хранятся имена файлов без расширения. В другой хранятся имена файлов с расширением. Одинаковых названий с разными расширениями быть не может, количество расширений не определено, помимо </a:t>
            </a:r>
            <a:r>
              <a:rPr lang="ru-RU" sz="1050" b="1" dirty="0" err="1">
                <a:latin typeface="Raleway" pitchFamily="2" charset="-52"/>
                <a:cs typeface="Museo Sans Cyrl 700"/>
              </a:rPr>
              <a:t>wav</a:t>
            </a:r>
            <a:r>
              <a:rPr lang="ru-RU" sz="1050" dirty="0">
                <a:latin typeface="Raleway" pitchFamily="2" charset="-52"/>
                <a:cs typeface="Museo Sans Cyrl 700"/>
              </a:rPr>
              <a:t> и </a:t>
            </a:r>
            <a:r>
              <a:rPr lang="ru-RU" sz="1050" b="1" dirty="0">
                <a:latin typeface="Raleway" pitchFamily="2" charset="-52"/>
                <a:cs typeface="Museo Sans Cyrl 700"/>
              </a:rPr>
              <a:t>mp3</a:t>
            </a:r>
            <a:r>
              <a:rPr lang="ru-RU" sz="1050" dirty="0">
                <a:latin typeface="Raleway" pitchFamily="2" charset="-52"/>
                <a:cs typeface="Museo Sans Cyrl 700"/>
              </a:rPr>
              <a:t> может встретиться что угодно. </a:t>
            </a:r>
            <a:br>
              <a:rPr lang="ru-RU" sz="1050" dirty="0">
                <a:latin typeface="Raleway" pitchFamily="2" charset="-52"/>
                <a:cs typeface="Museo Sans Cyrl 700"/>
              </a:rPr>
            </a:br>
            <a:endParaRPr lang="ru-RU" sz="1050" dirty="0">
              <a:latin typeface="Raleway" pitchFamily="2" charset="-52"/>
              <a:cs typeface="Museo Sans Cyrl 700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ru-RU" sz="1050" dirty="0">
                <a:latin typeface="Raleway" pitchFamily="2" charset="-52"/>
                <a:cs typeface="Museo Sans Cyrl 700"/>
              </a:rPr>
              <a:t>Нам необходимо минимальным количеством запросов к СУБД перенести данные о статусе из таблицы </a:t>
            </a:r>
            <a:r>
              <a:rPr lang="ru-RU" sz="1050" dirty="0" err="1">
                <a:latin typeface="Raleway" pitchFamily="2" charset="-52"/>
                <a:cs typeface="Museo Sans Cyrl 700"/>
              </a:rPr>
              <a:t>short_names</a:t>
            </a:r>
            <a:r>
              <a:rPr lang="ru-RU" sz="1050" dirty="0">
                <a:latin typeface="Raleway" pitchFamily="2" charset="-52"/>
                <a:cs typeface="Museo Sans Cyrl 700"/>
              </a:rPr>
              <a:t> в таблицу </a:t>
            </a:r>
            <a:r>
              <a:rPr lang="ru-RU" sz="1050" dirty="0" err="1">
                <a:latin typeface="Raleway" pitchFamily="2" charset="-52"/>
                <a:cs typeface="Museo Sans Cyrl 700"/>
              </a:rPr>
              <a:t>full_names</a:t>
            </a:r>
            <a:r>
              <a:rPr lang="ru-RU" sz="1050" dirty="0">
                <a:latin typeface="Raleway" pitchFamily="2" charset="-52"/>
                <a:cs typeface="Museo Sans Cyrl 700"/>
              </a:rPr>
              <a:t>. </a:t>
            </a:r>
            <a:br>
              <a:rPr lang="ru-RU" sz="1050" dirty="0">
                <a:latin typeface="Raleway" pitchFamily="2" charset="-52"/>
                <a:cs typeface="Museo Sans Cyrl 700"/>
              </a:rPr>
            </a:br>
            <a:endParaRPr lang="ru-RU" sz="1050" dirty="0">
              <a:latin typeface="Raleway" pitchFamily="2" charset="-52"/>
              <a:cs typeface="Museo Sans Cyrl 700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ru-RU" sz="1050" dirty="0">
                <a:latin typeface="Raleway" pitchFamily="2" charset="-52"/>
                <a:cs typeface="Museo Sans Cyrl 700"/>
              </a:rPr>
              <a:t>Необходимо понимать, что на выполнение запросов / время работы скрипта нельзя тратить больше 10 минут. Лучшее время выполнения этого тестового задания в 2022 году - 45 секунд на SQL запросе.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EBEF646-0E4D-49DF-8A25-35D0381B34D8}"/>
              </a:ext>
            </a:extLst>
          </p:cNvPr>
          <p:cNvSpPr/>
          <p:nvPr/>
        </p:nvSpPr>
        <p:spPr>
          <a:xfrm>
            <a:off x="444500" y="1402833"/>
            <a:ext cx="6776623" cy="45719"/>
          </a:xfrm>
          <a:prstGeom prst="rect">
            <a:avLst/>
          </a:prstGeom>
          <a:solidFill>
            <a:srgbClr val="7448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68CFF4CB-8E6A-4226-8FAC-6B701FE70CB9}"/>
              </a:ext>
            </a:extLst>
          </p:cNvPr>
          <p:cNvSpPr txBox="1"/>
          <p:nvPr/>
        </p:nvSpPr>
        <p:spPr>
          <a:xfrm>
            <a:off x="474662" y="7912928"/>
            <a:ext cx="4863342" cy="17697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ru-RU" sz="1050" dirty="0">
                <a:solidFill>
                  <a:srgbClr val="7448FC"/>
                </a:solidFill>
                <a:latin typeface="Raleway" pitchFamily="2" charset="-52"/>
                <a:cs typeface="Museo Sans Cyrl 700"/>
              </a:rPr>
              <a:t>Необходимо предоставить два и более варианта решения этой задачи</a:t>
            </a:r>
            <a:r>
              <a:rPr lang="ru-RU" sz="1050" b="1" dirty="0">
                <a:solidFill>
                  <a:srgbClr val="7448FC"/>
                </a:solidFill>
                <a:latin typeface="Raleway" pitchFamily="2" charset="-52"/>
                <a:cs typeface="Museo Sans Cyrl 700"/>
              </a:rPr>
              <a:t>.</a:t>
            </a:r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10FCC9FA-BDB3-43F6-BCD5-0B1474E8D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502099"/>
              </p:ext>
            </p:extLst>
          </p:nvPr>
        </p:nvGraphicFramePr>
        <p:xfrm>
          <a:off x="431041" y="3274114"/>
          <a:ext cx="2807018" cy="1940087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511618">
                  <a:extLst>
                    <a:ext uri="{9D8B030D-6E8A-4147-A177-3AD203B41FA5}">
                      <a16:colId xmlns:a16="http://schemas.microsoft.com/office/drawing/2014/main" val="28904143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59924475"/>
                    </a:ext>
                  </a:extLst>
                </a:gridCol>
              </a:tblGrid>
              <a:tr h="539067"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0" dirty="0" err="1">
                          <a:solidFill>
                            <a:srgbClr val="22252C"/>
                          </a:solidFill>
                          <a:effectLst/>
                          <a:latin typeface="Raleway" pitchFamily="2" charset="-52"/>
                          <a:ea typeface="+mn-ea"/>
                          <a:cs typeface="+mn-cs"/>
                        </a:rPr>
                        <a:t>short_names</a:t>
                      </a:r>
                      <a:endParaRPr lang="ru-RU" sz="1050" b="0" dirty="0">
                        <a:solidFill>
                          <a:srgbClr val="22252C"/>
                        </a:solidFill>
                        <a:latin typeface="Raleway" pitchFamily="2" charset="-52"/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dirty="0">
                        <a:latin typeface="Raleway" pitchFamily="2" charset="-52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4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224787"/>
                  </a:ext>
                </a:extLst>
              </a:tr>
              <a:tr h="33841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Raleway" pitchFamily="2" charset="-52"/>
                        </a:rPr>
                        <a:t>name</a:t>
                      </a:r>
                      <a:endParaRPr lang="ru-RU" sz="1200" dirty="0">
                        <a:latin typeface="Raleway" pitchFamily="2" charset="-52"/>
                      </a:endParaRPr>
                    </a:p>
                  </a:txBody>
                  <a:tcPr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CA8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err="1">
                          <a:solidFill>
                            <a:schemeClr val="lt1"/>
                          </a:solidFill>
                          <a:effectLst/>
                          <a:latin typeface="Raleway" pitchFamily="2" charset="-52"/>
                          <a:ea typeface="+mn-ea"/>
                          <a:cs typeface="+mn-cs"/>
                        </a:rPr>
                        <a:t>status</a:t>
                      </a:r>
                      <a:endParaRPr lang="ru-RU" sz="1200" dirty="0">
                        <a:latin typeface="Raleway" pitchFamily="2" charset="-52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CA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941765"/>
                  </a:ext>
                </a:extLst>
              </a:tr>
              <a:tr h="354201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22252C"/>
                          </a:solidFill>
                          <a:effectLst/>
                          <a:latin typeface="Raleway" pitchFamily="2" charset="-52"/>
                          <a:ea typeface="+mn-ea"/>
                          <a:cs typeface="+mn-cs"/>
                        </a:rPr>
                        <a:t>nazvanie1</a:t>
                      </a:r>
                      <a:endParaRPr lang="ru-RU" sz="1200" dirty="0">
                        <a:solidFill>
                          <a:srgbClr val="22252C"/>
                        </a:solidFill>
                        <a:latin typeface="Raleway" pitchFamily="2" charset="-52"/>
                      </a:endParaRPr>
                    </a:p>
                  </a:txBody>
                  <a:tcPr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22252C"/>
                          </a:solidFill>
                          <a:latin typeface="Raleway" pitchFamily="2" charset="-52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075334"/>
                  </a:ext>
                </a:extLst>
              </a:tr>
              <a:tr h="354201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22252C"/>
                          </a:solidFill>
                          <a:effectLst/>
                          <a:latin typeface="Raleway" pitchFamily="2" charset="-52"/>
                          <a:ea typeface="+mn-ea"/>
                          <a:cs typeface="+mn-cs"/>
                        </a:rPr>
                        <a:t>nazvanie2</a:t>
                      </a:r>
                      <a:endParaRPr lang="ru-RU" sz="1200" dirty="0">
                        <a:solidFill>
                          <a:srgbClr val="22252C"/>
                        </a:solidFill>
                        <a:latin typeface="Raleway" pitchFamily="2" charset="-52"/>
                      </a:endParaRPr>
                    </a:p>
                  </a:txBody>
                  <a:tcPr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22252C"/>
                          </a:solidFill>
                          <a:latin typeface="Raleway" pitchFamily="2" charset="-52"/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099716"/>
                  </a:ext>
                </a:extLst>
              </a:tr>
              <a:tr h="354201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22252C"/>
                          </a:solidFill>
                          <a:effectLst/>
                          <a:latin typeface="Raleway" pitchFamily="2" charset="-52"/>
                          <a:ea typeface="+mn-ea"/>
                          <a:cs typeface="+mn-cs"/>
                        </a:rPr>
                        <a:t>nazvanie5445</a:t>
                      </a:r>
                      <a:endParaRPr lang="ru-RU" sz="1200" dirty="0">
                        <a:solidFill>
                          <a:srgbClr val="22252C"/>
                        </a:solidFill>
                        <a:latin typeface="Raleway" pitchFamily="2" charset="-52"/>
                      </a:endParaRPr>
                    </a:p>
                  </a:txBody>
                  <a:tcPr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22252C"/>
                          </a:solidFill>
                          <a:latin typeface="Raleway" pitchFamily="2" charset="-52"/>
                        </a:rPr>
                        <a:t>1</a:t>
                      </a:r>
                      <a:endParaRPr lang="en-US" sz="1200" dirty="0">
                        <a:solidFill>
                          <a:srgbClr val="22252C"/>
                        </a:solidFill>
                        <a:latin typeface="Raleway" pitchFamily="2" charset="-52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321028"/>
                  </a:ext>
                </a:extLst>
              </a:tr>
            </a:tbl>
          </a:graphicData>
        </a:graphic>
      </p:graphicFrame>
      <p:sp>
        <p:nvSpPr>
          <p:cNvPr id="23" name="object 4">
            <a:extLst>
              <a:ext uri="{FF2B5EF4-FFF2-40B4-BE49-F238E27FC236}">
                <a16:creationId xmlns:a16="http://schemas.microsoft.com/office/drawing/2014/main" id="{A5E40832-BA2A-4571-A45C-6115CF4DA46B}"/>
              </a:ext>
            </a:extLst>
          </p:cNvPr>
          <p:cNvSpPr txBox="1"/>
          <p:nvPr/>
        </p:nvSpPr>
        <p:spPr>
          <a:xfrm>
            <a:off x="461654" y="3043808"/>
            <a:ext cx="2249796" cy="17697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z="1050" dirty="0">
                <a:latin typeface="Raleway" pitchFamily="2" charset="-52"/>
                <a:cs typeface="Museo Sans Cyrl 700"/>
              </a:rPr>
              <a:t>700 </a:t>
            </a:r>
            <a:r>
              <a:rPr lang="ru-RU" sz="1050" dirty="0">
                <a:latin typeface="Raleway" pitchFamily="2" charset="-52"/>
                <a:cs typeface="Museo Sans Cyrl 700"/>
              </a:rPr>
              <a:t>тысяч записей</a:t>
            </a:r>
          </a:p>
        </p:txBody>
      </p:sp>
      <p:graphicFrame>
        <p:nvGraphicFramePr>
          <p:cNvPr id="24" name="Таблица 8">
            <a:extLst>
              <a:ext uri="{FF2B5EF4-FFF2-40B4-BE49-F238E27FC236}">
                <a16:creationId xmlns:a16="http://schemas.microsoft.com/office/drawing/2014/main" id="{9D1BA72A-F5AE-4C73-A952-46C2C3B9D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002755"/>
              </p:ext>
            </p:extLst>
          </p:nvPr>
        </p:nvGraphicFramePr>
        <p:xfrm>
          <a:off x="3779157" y="3265523"/>
          <a:ext cx="2807018" cy="1940087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511618">
                  <a:extLst>
                    <a:ext uri="{9D8B030D-6E8A-4147-A177-3AD203B41FA5}">
                      <a16:colId xmlns:a16="http://schemas.microsoft.com/office/drawing/2014/main" val="28904143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59924475"/>
                    </a:ext>
                  </a:extLst>
                </a:gridCol>
              </a:tblGrid>
              <a:tr h="53906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2252C"/>
                          </a:solidFill>
                          <a:effectLst/>
                          <a:latin typeface="Raleway" pitchFamily="2" charset="-52"/>
                          <a:ea typeface="+mn-ea"/>
                          <a:cs typeface="+mn-cs"/>
                        </a:rPr>
                        <a:t>full</a:t>
                      </a:r>
                      <a:r>
                        <a:rPr lang="ru-RU" sz="1200" b="0" dirty="0">
                          <a:solidFill>
                            <a:srgbClr val="22252C"/>
                          </a:solidFill>
                          <a:effectLst/>
                          <a:latin typeface="Raleway" pitchFamily="2" charset="-52"/>
                          <a:ea typeface="+mn-ea"/>
                          <a:cs typeface="+mn-cs"/>
                        </a:rPr>
                        <a:t>_</a:t>
                      </a:r>
                      <a:r>
                        <a:rPr lang="ru-RU" sz="1200" b="0" dirty="0" err="1">
                          <a:solidFill>
                            <a:srgbClr val="22252C"/>
                          </a:solidFill>
                          <a:effectLst/>
                          <a:latin typeface="Raleway" pitchFamily="2" charset="-52"/>
                          <a:ea typeface="+mn-ea"/>
                          <a:cs typeface="+mn-cs"/>
                        </a:rPr>
                        <a:t>names</a:t>
                      </a:r>
                      <a:endParaRPr lang="ru-RU" sz="1050" b="0" dirty="0">
                        <a:solidFill>
                          <a:srgbClr val="22252C"/>
                        </a:solidFill>
                        <a:latin typeface="Raleway" pitchFamily="2" charset="-52"/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dirty="0">
                        <a:latin typeface="Raleway" pitchFamily="2" charset="-52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4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224787"/>
                  </a:ext>
                </a:extLst>
              </a:tr>
              <a:tr h="33841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Raleway" pitchFamily="2" charset="-52"/>
                        </a:rPr>
                        <a:t>name</a:t>
                      </a:r>
                      <a:endParaRPr lang="ru-RU" sz="1200" dirty="0">
                        <a:latin typeface="Raleway" pitchFamily="2" charset="-52"/>
                      </a:endParaRPr>
                    </a:p>
                  </a:txBody>
                  <a:tcPr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CA8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err="1">
                          <a:solidFill>
                            <a:schemeClr val="lt1"/>
                          </a:solidFill>
                          <a:effectLst/>
                          <a:latin typeface="Raleway" pitchFamily="2" charset="-52"/>
                          <a:ea typeface="+mn-ea"/>
                          <a:cs typeface="+mn-cs"/>
                        </a:rPr>
                        <a:t>status</a:t>
                      </a:r>
                      <a:endParaRPr lang="ru-RU" sz="1200" dirty="0">
                        <a:latin typeface="Raleway" pitchFamily="2" charset="-52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CA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941765"/>
                  </a:ext>
                </a:extLst>
              </a:tr>
              <a:tr h="35420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22252C"/>
                          </a:solidFill>
                          <a:effectLst/>
                          <a:latin typeface="Raleway" pitchFamily="2" charset="-52"/>
                          <a:ea typeface="+mn-ea"/>
                          <a:cs typeface="+mn-cs"/>
                        </a:rPr>
                        <a:t>nazvanie1.mp3</a:t>
                      </a:r>
                      <a:endParaRPr lang="ru-RU" sz="1200" dirty="0">
                        <a:solidFill>
                          <a:srgbClr val="22252C"/>
                        </a:solidFill>
                        <a:latin typeface="Raleway" pitchFamily="2" charset="-52"/>
                      </a:endParaRPr>
                    </a:p>
                  </a:txBody>
                  <a:tcPr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solidFill>
                          <a:srgbClr val="22252C"/>
                        </a:solidFill>
                        <a:latin typeface="Raleway" pitchFamily="2" charset="-52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075334"/>
                  </a:ext>
                </a:extLst>
              </a:tr>
              <a:tr h="35420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22252C"/>
                          </a:solidFill>
                          <a:effectLst/>
                          <a:latin typeface="Raleway" pitchFamily="2" charset="-52"/>
                          <a:ea typeface="+mn-ea"/>
                          <a:cs typeface="+mn-cs"/>
                        </a:rPr>
                        <a:t>nazvanie5445.mp3</a:t>
                      </a:r>
                      <a:endParaRPr lang="ru-RU" sz="1200" dirty="0">
                        <a:solidFill>
                          <a:srgbClr val="22252C"/>
                        </a:solidFill>
                        <a:latin typeface="Raleway" pitchFamily="2" charset="-52"/>
                      </a:endParaRPr>
                    </a:p>
                  </a:txBody>
                  <a:tcPr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solidFill>
                          <a:srgbClr val="22252C"/>
                        </a:solidFill>
                        <a:latin typeface="Raleway" pitchFamily="2" charset="-52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099716"/>
                  </a:ext>
                </a:extLst>
              </a:tr>
              <a:tr h="35420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22252C"/>
                          </a:solidFill>
                          <a:effectLst/>
                          <a:latin typeface="Raleway" pitchFamily="2" charset="-52"/>
                          <a:ea typeface="+mn-ea"/>
                          <a:cs typeface="+mn-cs"/>
                        </a:rPr>
                        <a:t>nazvanie3.mp3</a:t>
                      </a:r>
                    </a:p>
                  </a:txBody>
                  <a:tcPr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22252C"/>
                        </a:solidFill>
                        <a:latin typeface="Raleway" pitchFamily="2" charset="-52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321028"/>
                  </a:ext>
                </a:extLst>
              </a:tr>
            </a:tbl>
          </a:graphicData>
        </a:graphic>
      </p:graphicFrame>
      <p:sp>
        <p:nvSpPr>
          <p:cNvPr id="25" name="object 4">
            <a:extLst>
              <a:ext uri="{FF2B5EF4-FFF2-40B4-BE49-F238E27FC236}">
                <a16:creationId xmlns:a16="http://schemas.microsoft.com/office/drawing/2014/main" id="{5F1DF5A6-FC1B-433E-8614-C1A660B0C18D}"/>
              </a:ext>
            </a:extLst>
          </p:cNvPr>
          <p:cNvSpPr txBox="1"/>
          <p:nvPr/>
        </p:nvSpPr>
        <p:spPr>
          <a:xfrm>
            <a:off x="3809770" y="3035217"/>
            <a:ext cx="1797280" cy="17697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ru-RU" sz="1050" dirty="0">
                <a:latin typeface="Raleway" pitchFamily="2" charset="-52"/>
                <a:cs typeface="Museo Sans Cyrl 700"/>
              </a:rPr>
              <a:t>5</a:t>
            </a:r>
            <a:r>
              <a:rPr lang="en-US" sz="1050" dirty="0">
                <a:latin typeface="Raleway" pitchFamily="2" charset="-52"/>
                <a:cs typeface="Museo Sans Cyrl 700"/>
              </a:rPr>
              <a:t>00</a:t>
            </a:r>
            <a:r>
              <a:rPr lang="ru-RU" sz="1050" dirty="0">
                <a:latin typeface="Raleway" pitchFamily="2" charset="-52"/>
                <a:cs typeface="Museo Sans Cyrl 700"/>
              </a:rPr>
              <a:t> тысяч </a:t>
            </a:r>
            <a:r>
              <a:rPr lang="en-US" sz="1050" dirty="0">
                <a:latin typeface="Raleway" pitchFamily="2" charset="-52"/>
                <a:cs typeface="Museo Sans Cyrl 700"/>
              </a:rPr>
              <a:t> </a:t>
            </a:r>
            <a:r>
              <a:rPr lang="ru-RU" sz="1050" dirty="0">
                <a:latin typeface="Raleway" pitchFamily="2" charset="-52"/>
                <a:cs typeface="Museo Sans Cyrl 700"/>
              </a:rPr>
              <a:t>записей</a:t>
            </a:r>
          </a:p>
        </p:txBody>
      </p:sp>
    </p:spTree>
    <p:extLst>
      <p:ext uri="{BB962C8B-B14F-4D97-AF65-F5344CB8AC3E}">
        <p14:creationId xmlns:p14="http://schemas.microsoft.com/office/powerpoint/2010/main" val="3081138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</TotalTime>
  <Words>387</Words>
  <Application>Microsoft Office PowerPoint</Application>
  <PresentationFormat>Произвольный</PresentationFormat>
  <Paragraphs>46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Museo Sans Cyrl 900</vt:lpstr>
      <vt:lpstr>Calibri</vt:lpstr>
      <vt:lpstr>Raleway</vt:lpstr>
      <vt:lpstr>Museo Sans Cyrl 700</vt:lpstr>
      <vt:lpstr>Office Theme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Василькова Анастасия</dc:creator>
  <cp:lastModifiedBy>Василькова Анастасия</cp:lastModifiedBy>
  <cp:revision>30</cp:revision>
  <dcterms:created xsi:type="dcterms:W3CDTF">2022-03-21T21:25:08Z</dcterms:created>
  <dcterms:modified xsi:type="dcterms:W3CDTF">2024-08-22T09:59:44Z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2022-03-22T00:00:00Z</vt:filetime>
  </property>
  <property fmtid="{D5CDD505-2E9C-101B-9397-08002B2CF9AE}" pid="3" name="Creator">
    <vt:lpwstr>Adobe InDesign 17.1 (Windows)</vt:lpwstr>
  </property>
  <property fmtid="{D5CDD505-2E9C-101B-9397-08002B2CF9AE}" pid="4" name="LastSaved">
    <vt:filetime>2022-03-21T00:00:00Z</vt:filetime>
  </property>
</Properties>
</file>